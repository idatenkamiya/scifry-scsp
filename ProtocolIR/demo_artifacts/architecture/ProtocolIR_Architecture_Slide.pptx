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521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172A"/>
                </a:solidFill>
              </a:defRPr>
            </a:pPr>
            <a:r>
              <a:t>ProtocolIR End-to-End Architecture (SCC Batch + Safety Compiler)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03504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Natural-language lab protocols -&gt; verified Opentrons scripts with reward-guided repair and audit artifacts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914400"/>
            <a:ext cx="2057400" cy="256032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Inputs &amp; Execution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234440"/>
            <a:ext cx="2057400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D97706"/>
                </a:solidFill>
              </a:defRPr>
            </a:pPr>
            <a:r>
              <a:t>Protocol Input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Raw text from protocols.io / lab SOP / user prompt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2240280"/>
            <a:ext cx="2057400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D97706"/>
                </a:solidFill>
              </a:defRPr>
            </a:pPr>
            <a:r>
              <a:t>Data Sources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protocols_io_raw/, expert_scripts/, corrupted_traces/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3200400"/>
            <a:ext cx="2057400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D97706"/>
                </a:solidFill>
              </a:defRPr>
            </a:pPr>
            <a:r>
              <a:t>SCC Batch Orchestration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qsub jobs: demo, train_reward, train_on_real_data</a:t>
            </a:r>
            <a:br/>
            <a:r>
              <a:t>module load python3 + uv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4206240"/>
            <a:ext cx="2057400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D97706"/>
                </a:solidFill>
              </a:defRPr>
            </a:pPr>
            <a:r>
              <a:t>LLM Provider Layer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PROTOCOLIR_LLM_PROVIDER = ollama | anthropic</a:t>
            </a:r>
            <a:br/>
            <a:r>
              <a:t>Ollama local endpoint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914400"/>
            <a:ext cx="6675120" cy="25603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ProtocolIR Safety Compiler 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1234440"/>
            <a:ext cx="914400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2563EB"/>
                </a:solidFill>
              </a:defRPr>
            </a:pPr>
            <a:r>
              <a:t>1 Parse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LLM + heuristic fallback</a:t>
            </a:r>
            <a:br/>
            <a:r>
              <a:t>ParsedProtocol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1234440"/>
            <a:ext cx="914400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2563EB"/>
                </a:solidFill>
              </a:defRPr>
            </a:pPr>
            <a:r>
              <a:t>2 Ground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Map hints to deck</a:t>
            </a:r>
            <a:br/>
            <a:r>
              <a:t>GroundedAction[]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234440"/>
            <a:ext cx="914400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2563EB"/>
                </a:solidFill>
              </a:defRPr>
            </a:pPr>
            <a:r>
              <a:t>3 IR Build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Typed lab ops</a:t>
            </a:r>
            <a:br/>
            <a:r>
              <a:t>IROp[]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1234440"/>
            <a:ext cx="914400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2563EB"/>
                </a:solidFill>
              </a:defRPr>
            </a:pPr>
            <a:r>
              <a:t>4 Verify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Hard constraints</a:t>
            </a:r>
            <a:br/>
            <a:r>
              <a:t>violations[]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1234440"/>
            <a:ext cx="914400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2563EB"/>
                </a:solidFill>
              </a:defRPr>
            </a:pPr>
            <a:r>
              <a:t>5 Score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Reward model</a:t>
            </a:r>
            <a:br/>
            <a:r>
              <a:t>features -&gt; score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1234440"/>
            <a:ext cx="914400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2563EB"/>
                </a:solidFill>
              </a:defRPr>
            </a:pPr>
            <a:r>
              <a:t>6 Repair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Rule-based fixes</a:t>
            </a:r>
            <a:br/>
            <a:r>
              <a:t>IR patched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51760" y="2423160"/>
            <a:ext cx="1463040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2563EB"/>
                </a:solidFill>
              </a:defRPr>
            </a:pPr>
            <a:r>
              <a:t>7 Compile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IR -&gt; Opentrons Python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2423160"/>
            <a:ext cx="1463040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2563EB"/>
                </a:solidFill>
              </a:defRPr>
            </a:pPr>
            <a:r>
              <a:t>8 Simulate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opentrons.simulate</a:t>
            </a:r>
            <a:br/>
            <a:r>
              <a:t>runlog metrics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2423160"/>
            <a:ext cx="1645920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2563EB"/>
                </a:solidFill>
              </a:defRPr>
            </a:pPr>
            <a:r>
              <a:t>9 Audit Report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summary + safety findings</a:t>
            </a:r>
            <a:br/>
            <a:r>
              <a:t>explainability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566160" y="1691640"/>
            <a:ext cx="9144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1691640"/>
            <a:ext cx="9144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577840" y="1691640"/>
            <a:ext cx="9144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583680" y="1691640"/>
            <a:ext cx="9144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589520" y="1691640"/>
            <a:ext cx="9144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2651760" y="1691640"/>
            <a:ext cx="5943600" cy="118872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114800" y="2880360"/>
            <a:ext cx="18288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760720" y="2880360"/>
            <a:ext cx="18288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6126480" y="2148840"/>
            <a:ext cx="2011680" cy="0"/>
          </a:xfrm>
          <a:prstGeom prst="bentConnector3">
            <a:avLst/>
          </a:prstGeom>
          <a:ln w="1651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651760" y="3657600"/>
            <a:ext cx="6675120" cy="256032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Reward Model Training &amp; Reuse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51760" y="3977639"/>
            <a:ext cx="2011680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16A34A"/>
                </a:solidFill>
              </a:defRPr>
            </a:pPr>
            <a:r>
              <a:t>Training Data Builder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Expert scripts = positive</a:t>
            </a:r>
            <a:br/>
            <a:r>
              <a:t>Corrupted traces = negative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46320" y="3977639"/>
            <a:ext cx="2011680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16A34A"/>
                </a:solidFill>
              </a:defRPr>
            </a:pPr>
            <a:r>
              <a:t>Model Trainer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LogisticRegression + scaler</a:t>
            </a:r>
            <a:br/>
            <a:r>
              <a:t>train_on_real_data.py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40880" y="3977639"/>
            <a:ext cx="2286000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16A34A"/>
                </a:solidFill>
              </a:defRPr>
            </a:pPr>
            <a:r>
              <a:t>Model Artifact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models/learned_weights.json</a:t>
            </a:r>
            <a:br/>
            <a:r>
              <a:t>loaded at scoring stage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663440" y="4411979"/>
            <a:ext cx="182880" cy="0"/>
          </a:xfrm>
          <a:prstGeom prst="line">
            <a:avLst/>
          </a:prstGeom>
          <a:ln w="1905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858000" y="4411979"/>
            <a:ext cx="182880" cy="0"/>
          </a:xfrm>
          <a:prstGeom prst="line">
            <a:avLst/>
          </a:prstGeom>
          <a:ln w="1905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7132320" y="2148840"/>
            <a:ext cx="1051560" cy="1828799"/>
          </a:xfrm>
          <a:prstGeom prst="line">
            <a:avLst/>
          </a:prstGeom>
          <a:ln w="1778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555480" y="914400"/>
            <a:ext cx="2331720" cy="256032"/>
          </a:xfrm>
          <a:prstGeom prst="roundRect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Deliverables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55480" y="1234440"/>
            <a:ext cx="2331720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9333EA"/>
                </a:solidFill>
              </a:defRPr>
            </a:pPr>
            <a:r>
              <a:t>Executable Script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outputs/.../protocol.py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55480" y="2240280"/>
            <a:ext cx="2331720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9333EA"/>
                </a:solidFill>
              </a:defRPr>
            </a:pPr>
            <a:r>
              <a:t>Safety Artifact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outputs/.../audit_report.md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55480" y="3246120"/>
            <a:ext cx="2331720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9333EA"/>
                </a:solidFill>
              </a:defRPr>
            </a:pPr>
            <a:r>
              <a:t>Exec Summary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outputs/.../summary.txt</a:t>
            </a:r>
            <a:br/>
            <a:r>
              <a:t>reward before/after, violations, repairs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55480" y="4251960"/>
            <a:ext cx="2331720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9333EA"/>
                </a:solidFill>
              </a:defRPr>
            </a:pPr>
            <a:r>
              <a:t>Judge Demo Flow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Input protocol -&gt; generated code -&gt; simulation evidence -&gt; audit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7589520" y="1691640"/>
            <a:ext cx="1965960" cy="1188720"/>
          </a:xfrm>
          <a:prstGeom prst="line">
            <a:avLst/>
          </a:prstGeom>
          <a:ln w="19050">
            <a:solidFill>
              <a:srgbClr val="933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20040" y="6309360"/>
            <a:ext cx="11521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Legend: Orange = external inputs/runtime | Blue = compiler pipeline | Green = training path | Purple = demo outputs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